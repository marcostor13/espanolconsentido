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84" r:id="rId3"/>
    <p:sldId id="282" r:id="rId4"/>
    <p:sldId id="283" r:id="rId5"/>
    <p:sldId id="285" r:id="rId6"/>
    <p:sldId id="281" r:id="rId7"/>
    <p:sldId id="280" r:id="rId8"/>
    <p:sldId id="286" r:id="rId9"/>
    <p:sldId id="287" r:id="rId10"/>
    <p:sldId id="288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329BC-75A5-500F-1049-6A13E75D6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24D852-1C60-7944-E46D-7D1226EB1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CD2F09-A592-7671-6301-D4B7C585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A3B0BE-38D3-CC01-53A3-83C0C209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84AFB2-DFCD-BA2E-8294-799D3559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534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E8014-4C8F-5F8C-C862-48312F68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B27D03-09B8-4AB1-CE11-AF2D813F8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6A1C76-FA84-DBD4-5105-90AE0203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1A4A97-7829-4597-1BB5-20A8CDF0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9DB91E-ECF7-2DAD-8F7F-0F1FDF65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962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8CC0E-D33B-B24D-7158-95FADF1B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07F9F2-FB49-D184-718C-7105A0596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F2A20D-38D9-25E6-0AFE-368A0C2B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481E43-4D0C-167A-6D3F-C449BBDC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B2B118-DB18-F5DC-FB72-B3FFA4F1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748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C7EB3-C3B4-17E4-DCDF-3446A421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FC9EAB-8539-93F0-774C-002F61084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01732E-7EC0-A022-604B-8530CB478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FF8FFE-D09C-7016-8289-968192CC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C626DB-4208-5079-AB8D-27ED179B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796299-D225-7AD4-FA82-6C35B2DD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070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255A7-86C9-FDAE-1C47-3D5346AC7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597B9B-06C2-147F-98F4-F782CC8C6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47B1CF-9B9A-E09C-E590-09E624EED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595A74-3048-E917-F551-3D0D0D81D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49391D-6651-9000-F5C7-A33CEC499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F31246D-F580-67A9-DE0D-ADB5DB5D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00B9DD5-E4F0-75F7-0B83-A85BB87E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9C57A3-4222-A66F-1074-9D23A8AE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149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C990B-E38A-39F7-EDEF-1C2DE469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5FEB0A-A662-D9E8-6A8E-5141C629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7A6C8A-B2D7-1BC1-E8C2-2D6651596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89ADED-29DF-1673-BB47-BF1821B3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110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4116DA-77FD-CD4E-3C49-3B359C10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23C2FD5-B7B1-F0DD-AC36-FBCD96997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579077-9CA5-661B-2141-2BF5A103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310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9AA33-6873-8E19-E5C9-1C052A54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E7142A-CB9D-F373-A256-965C37843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50651B-2BE5-9391-7D3D-CD2B7293F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42BFD5-03B1-91A5-5980-50D293CF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D99DB2-DC54-A9B1-9DCC-85D51AA9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DB77E6-6C4D-93F3-9303-8D4AA37D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106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A7564-1865-6623-54C2-BDC38F0F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502E48-74AD-0DF9-10AC-E40838AC2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6C7DF8-AD19-8251-A8DD-9F9E13749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E18B02-607E-1DE6-3E5C-98D75AAD6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0DEFD7-1C41-BE4B-C5C9-99A15891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054689-554B-E3D3-194C-8384F604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720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70C62-BA61-7120-93FF-5F8C494F6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6AEAC1-4C84-D1BB-64FD-C8A58CB6B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1025D2-64CD-693B-CCD3-093FDDEA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ACDF38-649B-1398-27EE-5969C064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65C30D-FEBD-3A18-8BD9-8A4DA386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886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5C6C3D-2C52-9C5C-BA8D-41EACF8AB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61E45D-4546-64DE-6A14-250C554B2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7EC0E2-9FE4-0974-353D-6F6ADE63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19B9A4-A5A5-71ED-9C93-6D6ECEC3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770E8B-DBFE-5488-703C-DBFBF8667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577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EEB91E-7AD6-AC27-4969-0C9327DC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EDF865-B716-9A01-F0ED-09E9CB708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43620D-D925-C265-ABC4-B7079A0EA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5C2F7-66EC-4D1E-ABD0-BE2C7B738BFE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F46C5B-DC92-5517-8ECF-FC6437FE2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95C36B-911D-64B4-EBAB-9E0DE8A75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B386C-8DE1-4139-BA8C-4C5CC7853CC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5458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9DCC3006-139F-16DD-6E59-66D859B82647}"/>
              </a:ext>
            </a:extLst>
          </p:cNvPr>
          <p:cNvSpPr txBox="1"/>
          <p:nvPr/>
        </p:nvSpPr>
        <p:spPr>
          <a:xfrm>
            <a:off x="201178" y="117693"/>
            <a:ext cx="656538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b="1" dirty="0"/>
              <a:t>Clase de prueba</a:t>
            </a:r>
          </a:p>
          <a:p>
            <a:pPr>
              <a:buNone/>
            </a:pPr>
            <a:r>
              <a:rPr lang="es-ES" sz="1600" b="1" dirty="0"/>
              <a:t>$10</a:t>
            </a:r>
          </a:p>
          <a:p>
            <a:pPr>
              <a:buNone/>
            </a:pPr>
            <a:endParaRPr lang="es-ES" sz="1600" dirty="0"/>
          </a:p>
          <a:p>
            <a:pPr>
              <a:buNone/>
            </a:pPr>
            <a:r>
              <a:rPr lang="es-ES" sz="1600" dirty="0"/>
              <a:t>✔ Conversación guiada para evaluar tu nivel real de español</a:t>
            </a:r>
            <a:br>
              <a:rPr lang="es-ES" sz="1600" dirty="0"/>
            </a:br>
            <a:r>
              <a:rPr lang="es-ES" sz="1600" dirty="0"/>
              <a:t>✔ Corrección en vivo para identificar tus principales errores</a:t>
            </a:r>
            <a:br>
              <a:rPr lang="es-ES" sz="1600" dirty="0"/>
            </a:br>
            <a:r>
              <a:rPr lang="es-ES" sz="1600" dirty="0"/>
              <a:t>✔ Recomendaciones claras y personalizadas para mejorar</a:t>
            </a:r>
            <a:br>
              <a:rPr lang="es-ES" sz="1600" dirty="0"/>
            </a:br>
            <a:r>
              <a:rPr lang="es-ES" sz="1600" dirty="0"/>
              <a:t>✔ Mini plan de acción según tus objetivos</a:t>
            </a:r>
          </a:p>
          <a:p>
            <a:pPr>
              <a:buNone/>
            </a:pPr>
            <a:r>
              <a:rPr lang="es-ES" sz="1600" dirty="0"/>
              <a:t>✨ </a:t>
            </a:r>
            <a:r>
              <a:rPr lang="es-ES" sz="1600" b="1" dirty="0"/>
              <a:t>Si decides continuar, el valor de esta clase se descuenta en tu primer paquete</a:t>
            </a:r>
          </a:p>
          <a:p>
            <a:pPr>
              <a:buNone/>
            </a:pPr>
            <a:r>
              <a:rPr lang="es-ES" sz="1600" dirty="0"/>
              <a:t>La clase de prueba está disponible una sola vez por estudiante</a:t>
            </a:r>
            <a:endParaRPr lang="es-ES" sz="1600" b="1" dirty="0"/>
          </a:p>
          <a:p>
            <a:pPr>
              <a:buNone/>
            </a:pPr>
            <a:endParaRPr lang="es-ES" sz="16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b="1" dirty="0"/>
              <a:t>Plan Inicio</a:t>
            </a:r>
          </a:p>
          <a:p>
            <a:r>
              <a:rPr lang="es-ES" sz="1600" b="1" dirty="0"/>
              <a:t>4 clases – $76</a:t>
            </a:r>
          </a:p>
          <a:p>
            <a:endParaRPr lang="es-ES" sz="1600" dirty="0"/>
          </a:p>
          <a:p>
            <a:r>
              <a:rPr lang="es-ES" sz="1600" dirty="0"/>
              <a:t>✔ Clases personalizadas enfocadas en conversación real desde el primer día</a:t>
            </a:r>
            <a:br>
              <a:rPr lang="es-ES" sz="1600" dirty="0"/>
            </a:br>
            <a:r>
              <a:rPr lang="es-ES" sz="1600" dirty="0"/>
              <a:t>✔ Corrección en tiempo real para mejorar tu forma de expresarte</a:t>
            </a:r>
            <a:br>
              <a:rPr lang="es-ES" sz="1600" dirty="0"/>
            </a:br>
            <a:r>
              <a:rPr lang="es-ES" sz="1600" dirty="0"/>
              <a:t>✔ Incorporas vocabulario y estructuras útiles de forma natural</a:t>
            </a:r>
            <a:br>
              <a:rPr lang="es-ES" sz="1600" dirty="0"/>
            </a:br>
            <a:r>
              <a:rPr lang="es-ES" sz="1600" dirty="0"/>
              <a:t>✔ Ganas seguridad para comunicarte en situaciones cotidianas</a:t>
            </a:r>
          </a:p>
          <a:p>
            <a:pPr>
              <a:buNone/>
            </a:pPr>
            <a:endParaRPr lang="es-ES" sz="16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b="1" dirty="0"/>
              <a:t>Plan Progreso</a:t>
            </a:r>
          </a:p>
          <a:p>
            <a:pPr>
              <a:buNone/>
            </a:pPr>
            <a:r>
              <a:rPr lang="es-ES" sz="1600" b="1" dirty="0"/>
              <a:t>8 clases – $144</a:t>
            </a:r>
          </a:p>
          <a:p>
            <a:pPr>
              <a:buNone/>
            </a:pPr>
            <a:endParaRPr lang="es-ES" sz="1600" dirty="0"/>
          </a:p>
          <a:p>
            <a:pPr>
              <a:buNone/>
            </a:pPr>
            <a:r>
              <a:rPr lang="es-ES" sz="1600" dirty="0"/>
              <a:t>✔ Todo lo del Plan Inicio</a:t>
            </a:r>
            <a:br>
              <a:rPr lang="es-ES" sz="1600" dirty="0"/>
            </a:br>
            <a:r>
              <a:rPr lang="es-ES" sz="1600" dirty="0"/>
              <a:t>✔ Seguimiento continuo de tu avance en cada sesión</a:t>
            </a:r>
            <a:br>
              <a:rPr lang="es-ES" sz="1600" dirty="0"/>
            </a:br>
            <a:r>
              <a:rPr lang="es-ES" sz="1600" dirty="0"/>
              <a:t>✔ Práctica constante para desarrollar fluidez al hablar</a:t>
            </a:r>
            <a:br>
              <a:rPr lang="es-ES" sz="1600" dirty="0"/>
            </a:br>
            <a:r>
              <a:rPr lang="es-ES" sz="1600" dirty="0"/>
              <a:t>✔ Refuerzas tu forma de expresarte con mayor organización y naturalidad</a:t>
            </a:r>
            <a:r>
              <a:rPr lang="es-ES" sz="1600" b="1" dirty="0"/>
              <a:t>. </a:t>
            </a:r>
            <a:endParaRPr lang="es-ES" sz="16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539F7F5-0F94-3FA2-0EF6-022ECA87BE81}"/>
              </a:ext>
            </a:extLst>
          </p:cNvPr>
          <p:cNvSpPr txBox="1"/>
          <p:nvPr/>
        </p:nvSpPr>
        <p:spPr>
          <a:xfrm>
            <a:off x="6766560" y="1041023"/>
            <a:ext cx="54040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ES" sz="1600" dirty="0"/>
          </a:p>
          <a:p>
            <a:pPr>
              <a:buNone/>
            </a:pPr>
            <a:r>
              <a:rPr lang="es-ES" sz="1600" b="1" dirty="0"/>
              <a:t>⭐ Plan Fluidez (MÁS POPULAR)</a:t>
            </a:r>
          </a:p>
          <a:p>
            <a:pPr>
              <a:buNone/>
            </a:pPr>
            <a:r>
              <a:rPr lang="es-ES" sz="1600" b="1" dirty="0"/>
              <a:t>12 clases – $204</a:t>
            </a:r>
          </a:p>
          <a:p>
            <a:pPr>
              <a:buNone/>
            </a:pPr>
            <a:endParaRPr lang="es-ES" sz="1600" dirty="0"/>
          </a:p>
          <a:p>
            <a:pPr>
              <a:buNone/>
            </a:pPr>
            <a:r>
              <a:rPr lang="es-ES" sz="1600" dirty="0"/>
              <a:t>✔ Todo lo del Plan Progreso</a:t>
            </a:r>
            <a:br>
              <a:rPr lang="es-ES" sz="1600" dirty="0"/>
            </a:br>
            <a:r>
              <a:rPr lang="es-ES" sz="1600" dirty="0"/>
              <a:t>✔ Trabajo más profundo en naturalidad, precisión y fluidez</a:t>
            </a:r>
            <a:br>
              <a:rPr lang="es-ES" sz="1600" dirty="0"/>
            </a:br>
            <a:r>
              <a:rPr lang="es-ES" sz="1600" dirty="0"/>
              <a:t>✔ Mayor continuidad en el proceso para afianzar tu español</a:t>
            </a:r>
            <a:br>
              <a:rPr lang="es-ES" sz="1600" dirty="0"/>
            </a:br>
            <a:r>
              <a:rPr lang="es-ES" sz="1600" dirty="0"/>
              <a:t>✔ Te desenvuelves con más soltura en conversaciones reales</a:t>
            </a:r>
          </a:p>
          <a:p>
            <a:pPr>
              <a:buNone/>
            </a:pPr>
            <a:r>
              <a:rPr lang="es-ES" sz="1600" dirty="0"/>
              <a:t>✨ </a:t>
            </a:r>
            <a:r>
              <a:rPr lang="es-ES" sz="1600" b="1" dirty="0"/>
              <a:t>Incluye 1 clase adicional: experiencia de conversación real con dos hablantes nativos</a:t>
            </a:r>
            <a:br>
              <a:rPr lang="es-ES" sz="1600" dirty="0"/>
            </a:br>
            <a:r>
              <a:rPr lang="es-ES" sz="1600" dirty="0"/>
              <a:t>✔ Practicas en un entorno más dinámico y auténtico</a:t>
            </a:r>
            <a:br>
              <a:rPr lang="es-ES" sz="1600" dirty="0"/>
            </a:br>
            <a:r>
              <a:rPr lang="es-ES" sz="1600" dirty="0"/>
              <a:t>✔ Te adaptas a diferentes formas de hablar español</a:t>
            </a:r>
            <a:br>
              <a:rPr lang="es-ES" sz="1600" dirty="0"/>
            </a:br>
            <a:r>
              <a:rPr lang="es-ES" sz="1600" dirty="0"/>
              <a:t>✔ Mejoras tu comprensión y soltura en tiempo real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4FE5FD8-9FAD-1CA5-EA8B-7F2943567426}"/>
              </a:ext>
            </a:extLst>
          </p:cNvPr>
          <p:cNvSpPr/>
          <p:nvPr/>
        </p:nvSpPr>
        <p:spPr>
          <a:xfrm>
            <a:off x="8881171" y="117693"/>
            <a:ext cx="27896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paquetes</a:t>
            </a:r>
            <a:endParaRPr lang="es-PE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F5041FC-0ED5-C423-8F57-687B219B610C}"/>
              </a:ext>
            </a:extLst>
          </p:cNvPr>
          <p:cNvSpPr txBox="1"/>
          <p:nvPr/>
        </p:nvSpPr>
        <p:spPr>
          <a:xfrm>
            <a:off x="6766560" y="4565064"/>
            <a:ext cx="54040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b="1" dirty="0"/>
              <a:t>Clase individual</a:t>
            </a:r>
          </a:p>
          <a:p>
            <a:pPr>
              <a:buNone/>
            </a:pPr>
            <a:r>
              <a:rPr lang="es-ES" sz="1600" b="1" dirty="0"/>
              <a:t>$20</a:t>
            </a:r>
            <a:endParaRPr lang="es-ES" sz="1600" dirty="0"/>
          </a:p>
          <a:p>
            <a:pPr>
              <a:buNone/>
            </a:pPr>
            <a:r>
              <a:rPr lang="es-ES" sz="1600" dirty="0"/>
              <a:t>✔ Sesión puntual para practicar o resolver una duda específica</a:t>
            </a:r>
            <a:br>
              <a:rPr lang="es-ES" sz="1600" dirty="0"/>
            </a:br>
            <a:r>
              <a:rPr lang="es-ES" sz="1600" dirty="0"/>
              <a:t>✔ Conversación guiada con corrección en tiempo real</a:t>
            </a:r>
            <a:br>
              <a:rPr lang="es-ES" sz="1600" dirty="0"/>
            </a:br>
            <a:r>
              <a:rPr lang="es-ES" sz="1600" dirty="0"/>
              <a:t>✔ Enfocada en una necesidad concreta del momento</a:t>
            </a:r>
            <a:br>
              <a:rPr lang="es-ES" sz="1600" dirty="0"/>
            </a:br>
            <a:r>
              <a:rPr lang="es-ES" sz="1600" dirty="0"/>
              <a:t>✔ </a:t>
            </a:r>
            <a:r>
              <a:rPr lang="es-ES" sz="1600" b="1" dirty="0"/>
              <a:t>Recomendada como clase ocasional — para un progreso continuo, se sugiere un paquete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851893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C893580-596C-9470-66E5-F7FC7B02F9E2}"/>
              </a:ext>
            </a:extLst>
          </p:cNvPr>
          <p:cNvSpPr txBox="1"/>
          <p:nvPr/>
        </p:nvSpPr>
        <p:spPr>
          <a:xfrm>
            <a:off x="770572" y="456066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✨ Clases personalizadas de español</a:t>
            </a:r>
          </a:p>
          <a:p>
            <a:pPr>
              <a:buNone/>
            </a:pPr>
            <a:r>
              <a:rPr lang="es-ES" dirty="0"/>
              <a:t>✔ Conversación real</a:t>
            </a:r>
            <a:br>
              <a:rPr lang="es-ES" dirty="0"/>
            </a:br>
            <a:r>
              <a:rPr lang="es-ES" dirty="0"/>
              <a:t>✔ Material adaptado a tu nivel</a:t>
            </a:r>
            <a:br>
              <a:rPr lang="es-ES" dirty="0"/>
            </a:br>
            <a:r>
              <a:rPr lang="es-ES" dirty="0"/>
              <a:t>✔ Clases dinámicas y enfocadas en comunicación</a:t>
            </a:r>
            <a:br>
              <a:rPr lang="es-ES" dirty="0"/>
            </a:br>
            <a:r>
              <a:rPr lang="es-ES" dirty="0"/>
              <a:t>✔ Español para viajes, trabajo y vida cotidiana</a:t>
            </a:r>
            <a:br>
              <a:rPr lang="es-ES" dirty="0"/>
            </a:br>
            <a:r>
              <a:rPr lang="es-ES" dirty="0"/>
              <a:t>✔ Clases online de 50 minutos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101B90-3500-49AB-DA02-11C103F9B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878" y="298723"/>
            <a:ext cx="8306614" cy="3305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0538B46-6B38-6E39-4C57-FF174F8EBA17}"/>
              </a:ext>
            </a:extLst>
          </p:cNvPr>
          <p:cNvSpPr txBox="1"/>
          <p:nvPr/>
        </p:nvSpPr>
        <p:spPr>
          <a:xfrm>
            <a:off x="641683" y="3985576"/>
            <a:ext cx="5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En esta parte de la web quiero que agregues esto:</a:t>
            </a:r>
            <a:endParaRPr lang="es-P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80547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5C9BC71-28DC-86F5-4197-DD277363B407}"/>
              </a:ext>
            </a:extLst>
          </p:cNvPr>
          <p:cNvSpPr/>
          <p:nvPr/>
        </p:nvSpPr>
        <p:spPr>
          <a:xfrm>
            <a:off x="4782090" y="169535"/>
            <a:ext cx="25186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políticas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36AA45-5602-8B80-BEBE-50438F76234F}"/>
              </a:ext>
            </a:extLst>
          </p:cNvPr>
          <p:cNvSpPr txBox="1"/>
          <p:nvPr/>
        </p:nvSpPr>
        <p:spPr>
          <a:xfrm>
            <a:off x="317311" y="1056154"/>
            <a:ext cx="1047806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600" b="1" dirty="0"/>
              <a:t>📌 Políticas de clases</a:t>
            </a:r>
          </a:p>
          <a:p>
            <a:pPr>
              <a:buNone/>
            </a:pPr>
            <a:r>
              <a:rPr lang="es-ES" sz="1600" dirty="0"/>
              <a:t>Estas políticas buscan asegurar una experiencia organizada, respetuosa y efectiva para todos los estudiantes.</a:t>
            </a:r>
          </a:p>
          <a:p>
            <a:pPr>
              <a:buNone/>
            </a:pPr>
            <a:endParaRPr lang="es-ES" sz="1600" dirty="0"/>
          </a:p>
          <a:p>
            <a:pPr>
              <a:buNone/>
            </a:pPr>
            <a:r>
              <a:rPr lang="es-ES" sz="1600" b="1" dirty="0"/>
              <a:t>🗓️ 1. Cancelaciones y reprogramaciones</a:t>
            </a:r>
          </a:p>
          <a:p>
            <a:pPr>
              <a:buNone/>
            </a:pPr>
            <a:r>
              <a:rPr lang="es-ES" sz="1600" dirty="0"/>
              <a:t>Las clases pueden ser canceladas o reprogramadas con un mínimo de </a:t>
            </a:r>
            <a:r>
              <a:rPr lang="es-ES" sz="1600" b="1" dirty="0"/>
              <a:t>24 horas de anticipación</a:t>
            </a:r>
            <a:r>
              <a:rPr lang="es-E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Si se cancela con menos de 24 horas, la clase se considerará como realizada.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Si el estudiante no asiste a la clase, también se considerará como realizada. </a:t>
            </a:r>
          </a:p>
          <a:p>
            <a:pPr>
              <a:buNone/>
            </a:pPr>
            <a:endParaRPr lang="es-ES" sz="1600" dirty="0"/>
          </a:p>
          <a:p>
            <a:pPr>
              <a:buNone/>
            </a:pPr>
            <a:r>
              <a:rPr lang="es-ES" sz="1600" b="1" dirty="0"/>
              <a:t>⏰ 2. Puntualidad</a:t>
            </a:r>
          </a:p>
          <a:p>
            <a:pPr>
              <a:buNone/>
            </a:pPr>
            <a:r>
              <a:rPr lang="es-ES" sz="1600" dirty="0"/>
              <a:t>Se recomienda conectarse a la hora acordada.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La profesora esperará un máximo de </a:t>
            </a:r>
            <a:r>
              <a:rPr lang="es-ES" sz="1600" b="1" dirty="0"/>
              <a:t>10 a 15 minutos</a:t>
            </a:r>
            <a:r>
              <a:rPr lang="es-ES" sz="16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Pasado ese tiempo, la clase se dará por realizada. </a:t>
            </a:r>
          </a:p>
          <a:p>
            <a:pPr>
              <a:buNone/>
            </a:pPr>
            <a:endParaRPr lang="es-ES" sz="1600" dirty="0"/>
          </a:p>
          <a:p>
            <a:pPr>
              <a:buNone/>
            </a:pPr>
            <a:r>
              <a:rPr lang="es-ES" sz="1600" b="1" dirty="0"/>
              <a:t>📦 3. Paquetes de clases</a:t>
            </a:r>
          </a:p>
          <a:p>
            <a:pPr>
              <a:buNone/>
            </a:pPr>
            <a:r>
              <a:rPr lang="es-ES" sz="1600" dirty="0"/>
              <a:t>Las clases se adquieren en paquetes y deben utilizarse dentro de un período determinado desde la fecha de compra: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1600" dirty="0">
                <a:latin typeface="Arial" panose="020B0604020202020204" pitchFamily="34" charset="0"/>
              </a:rPr>
              <a:t>4 clases → </a:t>
            </a:r>
            <a:r>
              <a:rPr lang="es-PE" altLang="es-PE" sz="1600" b="1" dirty="0">
                <a:latin typeface="Arial" panose="020B0604020202020204" pitchFamily="34" charset="0"/>
              </a:rPr>
              <a:t>válidas por 1 mes</a:t>
            </a:r>
            <a:r>
              <a:rPr lang="es-PE" altLang="es-PE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1600" dirty="0">
                <a:latin typeface="Arial" panose="020B0604020202020204" pitchFamily="34" charset="0"/>
              </a:rPr>
              <a:t>8 clases → </a:t>
            </a:r>
            <a:r>
              <a:rPr lang="es-PE" altLang="es-PE" sz="1600" b="1" dirty="0">
                <a:latin typeface="Arial" panose="020B0604020202020204" pitchFamily="34" charset="0"/>
              </a:rPr>
              <a:t>válidas por 2 meses</a:t>
            </a:r>
            <a:r>
              <a:rPr lang="es-PE" altLang="es-PE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sz="1600" dirty="0">
                <a:latin typeface="Arial" panose="020B0604020202020204" pitchFamily="34" charset="0"/>
              </a:rPr>
              <a:t>12 clases → </a:t>
            </a:r>
            <a:r>
              <a:rPr lang="es-PE" altLang="es-PE" sz="1600" b="1" dirty="0">
                <a:latin typeface="Arial" panose="020B0604020202020204" pitchFamily="34" charset="0"/>
              </a:rPr>
              <a:t>válidas por 3 meses</a:t>
            </a:r>
            <a:r>
              <a:rPr lang="es-PE" altLang="es-PE" sz="1600" dirty="0">
                <a:latin typeface="Arial" panose="020B0604020202020204" pitchFamily="34" charset="0"/>
              </a:rPr>
              <a:t> </a:t>
            </a:r>
          </a:p>
          <a:p>
            <a:pPr>
              <a:buNone/>
            </a:pPr>
            <a:r>
              <a:rPr lang="es-ES" sz="1600" dirty="0"/>
              <a:t>Este plazo busca asegurar la continuidad del aprendizaje.</a:t>
            </a:r>
          </a:p>
          <a:p>
            <a:pPr>
              <a:buNone/>
            </a:pPr>
            <a:r>
              <a:rPr lang="es-ES" sz="1600" dirty="0"/>
              <a:t>No se realizan reembolsos por clases no utilizadas.</a:t>
            </a:r>
          </a:p>
        </p:txBody>
      </p:sp>
    </p:spTree>
    <p:extLst>
      <p:ext uri="{BB962C8B-B14F-4D97-AF65-F5344CB8AC3E}">
        <p14:creationId xmlns:p14="http://schemas.microsoft.com/office/powerpoint/2010/main" val="121492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5DC9876-1FD3-36F0-30CA-255BC8590C32}"/>
              </a:ext>
            </a:extLst>
          </p:cNvPr>
          <p:cNvSpPr txBox="1"/>
          <p:nvPr/>
        </p:nvSpPr>
        <p:spPr>
          <a:xfrm>
            <a:off x="399197" y="686517"/>
            <a:ext cx="100686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4. </a:t>
            </a:r>
            <a:r>
              <a:rPr lang="es-ES" dirty="0"/>
              <a:t>La clase de prueba es solo una por estudiante</a:t>
            </a:r>
            <a:r>
              <a:rPr lang="es-ES" b="1" dirty="0"/>
              <a:t> 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/>
              <a:t>5. Compromiso del estudiante</a:t>
            </a:r>
          </a:p>
          <a:p>
            <a:pPr>
              <a:buNone/>
            </a:pPr>
            <a:r>
              <a:rPr lang="es-ES" dirty="0"/>
              <a:t>El progreso depende de la constancia y participación activa.</a:t>
            </a:r>
          </a:p>
          <a:p>
            <a:pPr>
              <a:buNone/>
            </a:pPr>
            <a:r>
              <a:rPr lang="es-ES" dirty="0"/>
              <a:t>Se recomienda asistir regularmente y aprovechar cada sesión al máximo.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b="1" dirty="0"/>
              <a:t>6. Comunicación</a:t>
            </a:r>
          </a:p>
          <a:p>
            <a:pPr>
              <a:buNone/>
            </a:pPr>
            <a:r>
              <a:rPr lang="es-ES" dirty="0"/>
              <a:t>Para cualquier consulta, se recomienda comunicarse con anticipación a través de los canales establecidos.</a:t>
            </a:r>
          </a:p>
          <a:p>
            <a:pPr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873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3D6E178-2632-629D-0E32-8525F424EDE5}"/>
              </a:ext>
            </a:extLst>
          </p:cNvPr>
          <p:cNvSpPr txBox="1"/>
          <p:nvPr/>
        </p:nvSpPr>
        <p:spPr>
          <a:xfrm>
            <a:off x="3048000" y="28288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Programa de recomendación</a:t>
            </a:r>
          </a:p>
          <a:p>
            <a:pPr>
              <a:buNone/>
            </a:pPr>
            <a:r>
              <a:rPr lang="es-ES" dirty="0"/>
              <a:t>Si un estudiante recomienda a una nueva persona y esta adquiere un paquete de clases, el estudiante recibe 1 clase adicional sin costo en su próximo paquete.</a:t>
            </a:r>
          </a:p>
        </p:txBody>
      </p:sp>
    </p:spTree>
    <p:extLst>
      <p:ext uri="{BB962C8B-B14F-4D97-AF65-F5344CB8AC3E}">
        <p14:creationId xmlns:p14="http://schemas.microsoft.com/office/powerpoint/2010/main" val="1645216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D3E86DF-B228-E823-7A0A-3C44FE990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05" y="1848108"/>
            <a:ext cx="6296904" cy="193384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53DBDCA-7D30-1665-36C0-1F5D435D5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05" y="0"/>
            <a:ext cx="6735115" cy="184810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11D1C4A-7347-E0B0-D335-FFC966DB41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183"/>
          <a:stretch>
            <a:fillRect/>
          </a:stretch>
        </p:blipFill>
        <p:spPr>
          <a:xfrm>
            <a:off x="254605" y="3696216"/>
            <a:ext cx="6697010" cy="234973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B6478CD-E7CF-A7CA-42F6-7FDFB5074E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998"/>
          <a:stretch>
            <a:fillRect/>
          </a:stretch>
        </p:blipFill>
        <p:spPr>
          <a:xfrm>
            <a:off x="7764721" y="4321858"/>
            <a:ext cx="6697010" cy="209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1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1C5B86-7BCC-6A46-A09D-48D3A2139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054"/>
          <a:stretch>
            <a:fillRect/>
          </a:stretch>
        </p:blipFill>
        <p:spPr>
          <a:xfrm>
            <a:off x="500837" y="0"/>
            <a:ext cx="6858957" cy="236044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E32896B-D47D-1891-7232-EDA1BF0E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37" y="2526763"/>
            <a:ext cx="665890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85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8A1A78D-EDA9-91BE-7706-57B7DCBD9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" y="338381"/>
            <a:ext cx="6811326" cy="30770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0F4F3D4-8130-C10B-6DD5-C16A99B81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74" y="3867644"/>
            <a:ext cx="6830378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64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77F26B6-8883-8199-1146-565920716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93" y="601533"/>
            <a:ext cx="6858957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0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D594785-C223-8F9D-9E58-3B5F16DA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34" y="786063"/>
            <a:ext cx="6811326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193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618</Words>
  <Application>Microsoft Office PowerPoint</Application>
  <PresentationFormat>Panorámica</PresentationFormat>
  <Paragraphs>60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Janny sanchez</dc:creator>
  <cp:lastModifiedBy>Janny sanchez</cp:lastModifiedBy>
  <cp:revision>1</cp:revision>
  <dcterms:created xsi:type="dcterms:W3CDTF">2026-05-21T00:15:18Z</dcterms:created>
  <dcterms:modified xsi:type="dcterms:W3CDTF">2026-05-21T00:45:36Z</dcterms:modified>
</cp:coreProperties>
</file>